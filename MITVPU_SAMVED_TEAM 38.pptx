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5"/>
  </p:notesMasterIdLst>
  <p:sldIdLst>
    <p:sldId id="256" r:id="rId13"/>
    <p:sldId id="257" r:id="rId14"/>
    <p:sldId id="258" r:id="rId16"/>
    <p:sldId id="259" r:id="rId17"/>
    <p:sldId id="260" r:id="rId18"/>
    <p:sldId id="26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13E427-BF0C-4257-840D-040CEDF73CD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AAB66A-BCF3-4CCF-B2B3-38A175E22F37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2A2F1F5-2130-425C-A1AF-87C7138E8D3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CB91DC3-8269-45C3-86BA-F25D3B27984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030E11C-33DD-4774-A059-0A0513AEF73E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359EA091-27D9-4266-BAC3-4E0E3E6F5BE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0BBE227-CE76-4EE2-99E7-C975B1F063E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0B753A3-1247-4BEF-A58B-3AFE5A5F739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B6BBEB7-9907-439F-AC21-1B212AEF332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IN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IN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IN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027678-E409-4D23-81BB-579826C0454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9D7A32-9AD0-4A6F-BCFD-931EBC82135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49CDE-AB06-457C-8565-E91EFFEADEB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46AC-5463-4406-A176-CAA4A67B62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4A541-3FE1-4CE7-BAC7-85C62F3D536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A125A6-50F5-44E1-AE96-97F0A47EF094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AAFB62-1C50-42B8-AF76-E28AAFD9CAD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786ED9-6CF6-4911-A926-5445554965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1E26C6-8147-4A1B-A690-24E72B344482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/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6" name="Freeform: Shape 26"/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0"/>
              </a:spcBef>
              <a:tabLst>
                <a:tab pos="0" algn="l"/>
              </a:tabLst>
            </a:pPr>
            <a:endParaRPr lang="en-IN" sz="32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algn="ctr" defTabSz="457200">
              <a:lnSpc>
                <a:spcPct val="100000"/>
              </a:lnSpc>
              <a:spcBef>
                <a:spcPts val="64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TITLE PAGE</a:t>
            </a:r>
            <a:endParaRPr lang="en-IN" sz="32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/>
                <a:ea typeface="MS PGothic" panose="020B0600070205080204" charset="-128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200" y="1680847"/>
            <a:ext cx="8282160" cy="47383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Problem Statement ID –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endParaRPr lang="en-IN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Problem Statement Title- </a:t>
            </a:r>
            <a:r>
              <a:rPr lang="en-US" sz="2200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Smart Road Damage Reporting &amp; Rapid Response System for Solapur Municipal Corporation</a:t>
            </a:r>
            <a:endParaRPr lang="en-IN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Theme- </a:t>
            </a:r>
            <a:r>
              <a:rPr lang="en-US" sz="220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Disaster management</a:t>
            </a:r>
            <a:endParaRPr lang="en-IN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Team ID- </a:t>
            </a:r>
            <a:r>
              <a:rPr lang="en-US" sz="220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MITVPU_SAMVED_TEAM 38</a:t>
            </a:r>
            <a:endParaRPr lang="en-IN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Team Name </a:t>
            </a:r>
            <a:r>
              <a:rPr lang="en-US" sz="2400" b="1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- </a:t>
            </a:r>
            <a:r>
              <a:rPr lang="en-US" sz="2200" spc="-1" dirty="0" err="1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TrackX</a:t>
            </a:r>
            <a:endParaRPr lang="en-IN" sz="22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1"/>
          <a:stretch>
            <a:fillRect/>
          </a:stretch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2"/>
          <a:stretch>
            <a:fillRect/>
          </a:stretch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-1166327" y="0"/>
            <a:ext cx="12321287" cy="1928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Road Condition Monitoring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endParaRPr lang="en-IN" sz="28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429260" y="1522730"/>
            <a:ext cx="5436870" cy="40589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buClr>
                <a:srgbClr val="1F497D"/>
              </a:buClr>
            </a:pPr>
            <a:r>
              <a:rPr lang="en-US" sz="2400" b="1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Description of Idea</a:t>
            </a:r>
            <a:endParaRPr lang="en-IN" sz="24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IoT-based road condition monitoring system mounted on municipal vehicles for real-time road inspection.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and accelerometer detect potholes, humps, vibrations, and road irregularities.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and GPS capture road images and exact location of damaged areas.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processes data and performs severity mapping (Low / Medium / High).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the cloud and displayed on a municipal dashboard for monitoring.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are assigned to relevant departments, with automatic escalation to the Commissioner if delayed.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Oval 9"/>
          <p:cNvSpPr/>
          <p:nvPr/>
        </p:nvSpPr>
        <p:spPr>
          <a:xfrm>
            <a:off x="329760" y="289248"/>
            <a:ext cx="1443056" cy="769871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800" b="0" strike="noStrike" spc="-1" dirty="0" err="1">
                <a:solidFill>
                  <a:srgbClr val="000000"/>
                </a:solidFill>
                <a:latin typeface="Arial" panose="020B0604020202020204"/>
              </a:rPr>
              <a:t>TrackX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1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930" y="2303780"/>
            <a:ext cx="5714365" cy="3080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45389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1072081" y="-412783"/>
            <a:ext cx="11727639" cy="1782147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Technical Approach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460376" y="819570"/>
            <a:ext cx="7386669" cy="550545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Technologies to be used: </a:t>
            </a:r>
            <a:endParaRPr lang="en-US" sz="2400" b="1" strike="noStrike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Internet of Things, Machine Learning, Cloud Analytics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Hardware Tools</a:t>
            </a:r>
            <a:r>
              <a:rPr lang="en-US" sz="2400" b="1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:</a:t>
            </a:r>
            <a:endParaRPr lang="en-US" sz="2400" b="1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342900" indent="-34290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20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r>
              <a:rPr lang="en-US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Ultrasonic Sensor </a:t>
            </a: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, Accelerometer(MPU6050), 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indent="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     Camera Module, GSM, GPS Module &amp; Raspberry Pi Controller.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Software Tools:</a:t>
            </a:r>
            <a:endParaRPr lang="en-US" sz="2400" b="1" strike="noStrike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342900" indent="-342900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Wireless Communication, </a:t>
            </a:r>
            <a:r>
              <a:rPr lang="en-US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Municipality Dashb</a:t>
            </a: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oard, Python IDE</a:t>
            </a:r>
            <a:r>
              <a:rPr lang="en-US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endParaRPr lang="en-US" strike="noStrike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  <a:buClr>
                <a:srgbClr val="000000"/>
              </a:buClr>
            </a:pPr>
            <a:endParaRPr lang="en-US" strike="noStrike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Implementation Flow </a:t>
            </a:r>
            <a:endParaRPr lang="en-US" sz="2400" b="1" spc="-1" dirty="0">
              <a:solidFill>
                <a:schemeClr val="dk1"/>
              </a:solidFill>
              <a:latin typeface="Arial" panose="020B0604020202020204"/>
              <a:ea typeface="MS PGothic" panose="020B0600070205080204" charset="-128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System deployed on municipal vehicle moves around the area.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Sensors continuously collect data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Road surface check: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Normal → Continue monitoring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Not Normal → Proceed to analysis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800100" lvl="1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Measure depth &amp; vibration, Capture road image.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800100" lvl="1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Fetch GPS location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800100" lvl="1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Calculate severity(Low / Medium / High),Store &amp;send data to cloud</a:t>
            </a:r>
            <a:endParaRPr lang="en-US" spc="-1" dirty="0">
              <a:solidFill>
                <a:schemeClr val="dk1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marL="800100" lvl="1" indent="-342900" algn="just" defTabSz="457200">
              <a:buClr>
                <a:srgbClr val="000000"/>
              </a:buClr>
              <a:buFont typeface="Arial" panose="020B0604020202020204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Display on municipality dashboard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307975" y="93750"/>
            <a:ext cx="1380056" cy="7258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pc="-1" dirty="0" err="1">
                <a:solidFill>
                  <a:srgbClr val="000000"/>
                </a:solidFill>
                <a:latin typeface="Arial" panose="020B0604020202020204"/>
              </a:rPr>
              <a:t>T</a:t>
            </a:r>
            <a:r>
              <a:rPr lang="en-IN" sz="1800" b="0" strike="noStrike" spc="-1" dirty="0" err="1">
                <a:solidFill>
                  <a:srgbClr val="000000"/>
                </a:solidFill>
                <a:latin typeface="Arial" panose="020B0604020202020204"/>
              </a:rPr>
              <a:t>rackx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1"/>
          <a:stretch>
            <a:fillRect/>
          </a:stretch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3" name="AutoShape 2" descr="blob:https://web.whatsapp.com/6a425078-f558-4e64-87b1-d93f2afa4667"/>
          <p:cNvSpPr>
            <a:spLocks noChangeAspect="1" noChangeArrowheads="1"/>
          </p:cNvSpPr>
          <p:nvPr/>
        </p:nvSpPr>
        <p:spPr bwMode="auto">
          <a:xfrm>
            <a:off x="5503429" y="211253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4" name="AutoShape 4" descr="blob:https://web.whatsapp.com/6a425078-f558-4e64-87b1-d93f2afa4667"/>
          <p:cNvSpPr>
            <a:spLocks noChangeAspect="1" noChangeArrowheads="1"/>
          </p:cNvSpPr>
          <p:nvPr/>
        </p:nvSpPr>
        <p:spPr bwMode="auto">
          <a:xfrm>
            <a:off x="4958667" y="23355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8" descr="blob:https://web.whatsapp.com/6a425078-f558-4e64-87b1-d93f2afa466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7" name="Picture 6" descr="ok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95" y="1117600"/>
            <a:ext cx="5273040" cy="4499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25919" y="408512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Feasibility and Viability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791478" y="1386351"/>
            <a:ext cx="6372807" cy="4307418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sz="2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installed on existing municipal vehicles</a:t>
            </a: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</a:t>
            </a: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scalable solution</a:t>
            </a: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Easy to deploy across urban areas</a:t>
            </a: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IN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24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 accuracy in extreme weather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 visibility during night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connectivity issues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IN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</a:t>
            </a:r>
            <a:endParaRPr lang="en-IN" sz="24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z="2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eatherproof sensors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Night-vision cameras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data storage and Initiate Retransmission data</a:t>
            </a:r>
            <a:endParaRPr lang="en-IN" spc="-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329760" y="252360"/>
            <a:ext cx="1461718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800" b="0" strike="noStrike" spc="-1" dirty="0" err="1">
                <a:solidFill>
                  <a:srgbClr val="000000"/>
                </a:solidFill>
                <a:latin typeface="Arial" panose="020B0604020202020204"/>
              </a:rPr>
              <a:t>TrackX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1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b="58157"/>
          <a:stretch>
            <a:fillRect/>
          </a:stretch>
        </p:blipFill>
        <p:spPr>
          <a:xfrm>
            <a:off x="8809990" y="2768600"/>
            <a:ext cx="2543175" cy="1542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t="59147"/>
          <a:stretch>
            <a:fillRect/>
          </a:stretch>
        </p:blipFill>
        <p:spPr>
          <a:xfrm>
            <a:off x="7537450" y="4541520"/>
            <a:ext cx="2543175" cy="15201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 l="316" t="18631" r="1548" b="19205"/>
          <a:stretch>
            <a:fillRect/>
          </a:stretch>
        </p:blipFill>
        <p:spPr>
          <a:xfrm>
            <a:off x="7473315" y="1386205"/>
            <a:ext cx="1972310" cy="894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-230874" y="-13626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Impact and Benefits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1328914" y="1490734"/>
            <a:ext cx="5323812" cy="415353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Escalation Mechanism</a:t>
            </a:r>
            <a:endParaRPr lang="en-US" sz="24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officers do not respond within stipulated time: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 escalated to Municipal Review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Forwarded to Commissioner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 photos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 &amp; delay details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IN" sz="2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road condition monitoring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by municipal authorities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urban road infrastructure 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234240" y="102784"/>
            <a:ext cx="1396403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z="1800" b="0" strike="noStrike" kern="0" spc="-1" dirty="0" err="1">
                <a:solidFill>
                  <a:srgbClr val="000000"/>
                </a:solidFill>
                <a:latin typeface="Arial" panose="020B0604020202020204"/>
              </a:rPr>
              <a:t>TrackX</a:t>
            </a:r>
            <a:endParaRPr lang="en-IN" sz="1800" b="0" strike="noStrike" kern="0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1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035282" y="1490734"/>
            <a:ext cx="438538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IN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2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Reduced road accidents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Less vehicles damage</a:t>
            </a:r>
            <a:endParaRPr lang="en-IN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 maintenance cycle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Safer roads fo</a:t>
            </a:r>
            <a:r>
              <a:rPr lang="en-IN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citizens</a:t>
            </a:r>
            <a:endParaRPr lang="en-IN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IN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development of cities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3572510"/>
            <a:ext cx="5408295" cy="2355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576945" y="0"/>
            <a:ext cx="10972080" cy="1473091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Research  and References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130727" y="1144813"/>
            <a:ext cx="9570637" cy="37820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https://www.bohrium.com/en/paper-details/real-time-dynamic-scale-aware-fusion-detection-network-take-road-damage-detection-as-an-example/1038700816694771718-108597</a:t>
            </a:r>
            <a:endParaRPr lang="en-US" alt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https://www.bohrium.com/en/paper-details/improved-yolov5-based-real-time-road-pavement-damage-detection-in-road-infrastructure-management/911809225498297245-20453</a:t>
            </a:r>
            <a:endParaRPr lang="en-US" altLang="en-US" sz="2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https://www.researchgate.net/publication/354219786_An_Intelligent_Real_Time_Pothole_Detection_and_Warning_System_for_Automobile_Applications_Based_on_IoT_Technology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https://www.academia.edu/67715371/Real_Time_Pothole_Detection_and_Road_Monitoring_System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file:///C:/Users/Lenovo/Downloads/pcadmmin,+1555948458_NITET-2019.pdf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4" name="Oval 8"/>
          <p:cNvSpPr/>
          <p:nvPr/>
        </p:nvSpPr>
        <p:spPr>
          <a:xfrm>
            <a:off x="329760" y="252360"/>
            <a:ext cx="143016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IN" spc="-1" dirty="0" err="1">
                <a:solidFill>
                  <a:srgbClr val="000000"/>
                </a:solidFill>
                <a:latin typeface="Arial" panose="020B0604020202020204"/>
              </a:rPr>
              <a:t>TrackX</a:t>
            </a: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1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Presentation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6</vt:i4>
      </vt:variant>
    </vt:vector>
  </HeadingPairs>
  <TitlesOfParts>
    <vt:vector size="31" baseType="lpstr">
      <vt:lpstr>Arial</vt:lpstr>
      <vt:lpstr>SimSun</vt:lpstr>
      <vt:lpstr>Wingdings</vt:lpstr>
      <vt:lpstr>Arial</vt:lpstr>
      <vt:lpstr>TradeGothic</vt:lpstr>
      <vt:lpstr>Segoe Print</vt:lpstr>
      <vt:lpstr>Times New Roman</vt:lpstr>
      <vt:lpstr>MS PGothic</vt:lpstr>
      <vt:lpstr>Symbol</vt:lpstr>
      <vt:lpstr>Calibri</vt:lpstr>
      <vt:lpstr>Garamond</vt:lpstr>
      <vt:lpstr>Times New Roman</vt:lpstr>
      <vt:lpstr>Microsoft YaHei</vt:lpstr>
      <vt:lpstr>Arial Unicode MS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“SAMVED” HACKATHON 2026</vt:lpstr>
      <vt:lpstr>Automatic Road Condition Monitoring  System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Charan Sai Muddana</cp:lastModifiedBy>
  <cp:revision>176</cp:revision>
  <dcterms:created xsi:type="dcterms:W3CDTF">2013-12-12T18:46:00Z</dcterms:created>
  <dcterms:modified xsi:type="dcterms:W3CDTF">2026-02-20T04:50:52Z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  <property fmtid="{D5CDD505-2E9C-101B-9397-08002B2CF9AE}" pid="5" name="ICV">
    <vt:lpwstr>59F8EFE5BF164DD889D608E34D516AF0_12</vt:lpwstr>
  </property>
  <property fmtid="{D5CDD505-2E9C-101B-9397-08002B2CF9AE}" pid="6" name="KSOProductBuildVer">
    <vt:lpwstr>1033-12.2.0.23196</vt:lpwstr>
  </property>
</Properties>
</file>